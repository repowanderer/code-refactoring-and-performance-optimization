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7" r:id="rId6"/>
    <p:sldId id="308" r:id="rId7"/>
    <p:sldId id="309" r:id="rId8"/>
    <p:sldId id="263" r:id="rId9"/>
    <p:sldId id="318" r:id="rId10"/>
    <p:sldId id="310" r:id="rId11"/>
    <p:sldId id="319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ED"/>
    <a:srgbClr val="000000"/>
    <a:srgbClr val="636A58"/>
    <a:srgbClr val="505A47"/>
    <a:srgbClr val="D1D8B7"/>
    <a:srgbClr val="A09D79"/>
    <a:srgbClr val="AD5C4D"/>
    <a:srgbClr val="543E35"/>
    <a:srgbClr val="637700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6B64-AC67-31B1-A993-FB33F81C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9A0B8-67A7-F10E-9477-546F6F69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411D1-37F1-5D2B-069A-F449990F2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BB9C7-817B-6CD2-6946-84C6891B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9620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BFD8-E983-1A25-1073-88A3E7C8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BCAFB-C9F8-1C0A-42EE-00A6A8236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4F4A2-1B13-9A0D-CA09-F34721F6C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216FF-9341-AAFC-CE39-DA41960A4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5186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  <a:t>CODE REFACTORING</a:t>
            </a:r>
            <a:b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b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  <a:t>AND PERFORMANCE</a:t>
            </a:r>
            <a:b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b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  <a:t>OPTIMIZATION</a:t>
            </a:r>
            <a:br>
              <a:rPr lang="en-US" sz="3600" dirty="0">
                <a:solidFill>
                  <a:schemeClr val="accent2"/>
                </a:solidFill>
                <a:highlight>
                  <a:srgbClr val="00FF00"/>
                </a:highlight>
              </a:rPr>
            </a:br>
            <a:r>
              <a:rPr lang="en-US" sz="2400" b="1" dirty="0"/>
              <a:t>Project: Air Quality Prediction System</a:t>
            </a:r>
            <a:br>
              <a:rPr lang="en-US" sz="2400" b="1" dirty="0"/>
            </a:br>
            <a:r>
              <a:rPr lang="en-US" sz="2400" b="1" dirty="0"/>
              <a:t>Date: May 1, 2025</a:t>
            </a:r>
            <a:br>
              <a:rPr lang="en-US" sz="2400" b="1" dirty="0"/>
            </a:br>
            <a:r>
              <a:rPr lang="en-US" sz="2400" b="1" dirty="0"/>
              <a:t>Prepared by: Deepak Sahu</a:t>
            </a:r>
            <a:endParaRPr lang="en-US" sz="36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429734"/>
              </p:ext>
            </p:extLst>
          </p:nvPr>
        </p:nvGraphicFramePr>
        <p:xfrm>
          <a:off x="6999534" y="1121591"/>
          <a:ext cx="4190999" cy="4614818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Objective</a:t>
                      </a:r>
                      <a:br>
                        <a:rPr lang="en-IN" sz="2400" dirty="0"/>
                      </a:br>
                      <a:r>
                        <a:rPr lang="en-IN" sz="2400" dirty="0"/>
                        <a:t>1</a:t>
                      </a:r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IN" sz="2400" b="1" dirty="0"/>
                        <a:t>Key Changes &amp; Refactoring</a:t>
                      </a:r>
                      <a:br>
                        <a:rPr lang="en-IN" sz="2400" dirty="0"/>
                      </a:br>
                      <a:r>
                        <a:rPr lang="en-IN" sz="2400" dirty="0"/>
                        <a:t>2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IN" sz="2400" b="1" dirty="0"/>
                        <a:t>Performance Benchmarks</a:t>
                      </a:r>
                      <a:br>
                        <a:rPr lang="en-IN" sz="2400" dirty="0"/>
                      </a:br>
                      <a:r>
                        <a:rPr lang="en-IN" sz="2400" dirty="0"/>
                        <a:t>3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Technical Summary</a:t>
                      </a:r>
                      <a:br>
                        <a:rPr lang="en-IN" sz="2400" dirty="0"/>
                      </a:br>
                      <a:r>
                        <a:rPr lang="en-IN" sz="2400" dirty="0"/>
                        <a:t>4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Conclusion</a:t>
                      </a:r>
                      <a:endParaRPr lang="en-US" sz="2400" b="1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27819"/>
            <a:ext cx="5810865" cy="6440129"/>
          </a:xfrm>
        </p:spPr>
        <p:txBody>
          <a:bodyPr/>
          <a:lstStyle/>
          <a:p>
            <a:pPr>
              <a:buNone/>
            </a:pPr>
            <a:r>
              <a:rPr lang="en-US" sz="3200" b="1" dirty="0"/>
              <a:t>🎯</a:t>
            </a:r>
            <a:r>
              <a:rPr lang="en-US" sz="4000" b="1" dirty="0"/>
              <a:t> Objective:</a:t>
            </a:r>
            <a:br>
              <a:rPr lang="en-US" b="1" dirty="0"/>
            </a:br>
            <a:r>
              <a:rPr lang="en-US" sz="4000" dirty="0">
                <a:solidFill>
                  <a:srgbClr val="000000"/>
                </a:solidFill>
              </a:rPr>
              <a:t>To enhance the efficiency, scalability, and maintainability of the Air Quality Prediction System by refactoring core components and applying targeted performance optimizations.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975" y="53964"/>
            <a:ext cx="7534656" cy="914400"/>
          </a:xfrm>
        </p:spPr>
        <p:txBody>
          <a:bodyPr/>
          <a:lstStyle/>
          <a:p>
            <a:r>
              <a:rPr lang="en-IN" dirty="0"/>
              <a:t>🛠️ </a:t>
            </a:r>
            <a:r>
              <a:rPr lang="en-IN" b="1" dirty="0"/>
              <a:t>Key Changes &amp; Refactoring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A9937E-4F4F-6991-E4FB-DAF4ED7EF2A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48316146"/>
              </p:ext>
            </p:extLst>
          </p:nvPr>
        </p:nvGraphicFramePr>
        <p:xfrm>
          <a:off x="1238865" y="1131672"/>
          <a:ext cx="9261986" cy="4310730"/>
        </p:xfrm>
        <a:graphic>
          <a:graphicData uri="http://schemas.openxmlformats.org/drawingml/2006/table">
            <a:tbl>
              <a:tblPr/>
              <a:tblGrid>
                <a:gridCol w="2042651">
                  <a:extLst>
                    <a:ext uri="{9D8B030D-6E8A-4147-A177-3AD203B41FA5}">
                      <a16:colId xmlns:a16="http://schemas.microsoft.com/office/drawing/2014/main" val="3152426371"/>
                    </a:ext>
                  </a:extLst>
                </a:gridCol>
                <a:gridCol w="2406445">
                  <a:extLst>
                    <a:ext uri="{9D8B030D-6E8A-4147-A177-3AD203B41FA5}">
                      <a16:colId xmlns:a16="http://schemas.microsoft.com/office/drawing/2014/main" val="1590245490"/>
                    </a:ext>
                  </a:extLst>
                </a:gridCol>
                <a:gridCol w="2406445">
                  <a:extLst>
                    <a:ext uri="{9D8B030D-6E8A-4147-A177-3AD203B41FA5}">
                      <a16:colId xmlns:a16="http://schemas.microsoft.com/office/drawing/2014/main" val="1979797701"/>
                    </a:ext>
                  </a:extLst>
                </a:gridCol>
                <a:gridCol w="2406445">
                  <a:extLst>
                    <a:ext uri="{9D8B030D-6E8A-4147-A177-3AD203B41FA5}">
                      <a16:colId xmlns:a16="http://schemas.microsoft.com/office/drawing/2014/main" val="3350491713"/>
                    </a:ext>
                  </a:extLst>
                </a:gridCol>
              </a:tblGrid>
              <a:tr h="448814">
                <a:tc>
                  <a:txBody>
                    <a:bodyPr/>
                    <a:lstStyle/>
                    <a:p>
                      <a:r>
                        <a:rPr lang="en-IN" sz="2000" b="1" dirty="0"/>
                        <a:t>Component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Optimization Strategy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Before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After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004447"/>
                  </a:ext>
                </a:extLst>
              </a:tr>
              <a:tr h="785424">
                <a:tc>
                  <a:txBody>
                    <a:bodyPr/>
                    <a:lstStyle/>
                    <a:p>
                      <a:r>
                        <a:rPr lang="en-IN" sz="2000" b="1"/>
                        <a:t>Preprocessing</a:t>
                      </a:r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Vectorized computation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Manual iteration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Pandas/Numpy vectorization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826199"/>
                  </a:ext>
                </a:extLst>
              </a:tr>
              <a:tr h="785424">
                <a:tc>
                  <a:txBody>
                    <a:bodyPr/>
                    <a:lstStyle/>
                    <a:p>
                      <a:r>
                        <a:rPr lang="en-IN" sz="2000" b="1"/>
                        <a:t>Feature Engineering</a:t>
                      </a:r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PCA (dimensionality reduction)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60 features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20 components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894514"/>
                  </a:ext>
                </a:extLst>
              </a:tr>
              <a:tr h="448814">
                <a:tc>
                  <a:txBody>
                    <a:bodyPr/>
                    <a:lstStyle/>
                    <a:p>
                      <a:r>
                        <a:rPr lang="en-IN" sz="2000" b="1"/>
                        <a:t>Model Tuning</a:t>
                      </a:r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RandomizedSearchCV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GridSearchCV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Probabilistic search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08441"/>
                  </a:ext>
                </a:extLst>
              </a:tr>
              <a:tr h="448814">
                <a:tc>
                  <a:txBody>
                    <a:bodyPr/>
                    <a:lstStyle/>
                    <a:p>
                      <a:r>
                        <a:rPr lang="en-IN" sz="2000" b="1"/>
                        <a:t>Inference</a:t>
                      </a:r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ONNX conversion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Scikit-learn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Optimized ONNX runtime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01712"/>
                  </a:ext>
                </a:extLst>
              </a:tr>
              <a:tr h="448814">
                <a:tc>
                  <a:txBody>
                    <a:bodyPr/>
                    <a:lstStyle/>
                    <a:p>
                      <a:r>
                        <a:rPr lang="en-IN" sz="2000" b="1"/>
                        <a:t>API Layer</a:t>
                      </a:r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FastAPI async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Flask sync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Async endpoints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831005"/>
                  </a:ext>
                </a:extLst>
              </a:tr>
              <a:tr h="448814">
                <a:tc>
                  <a:txBody>
                    <a:bodyPr/>
                    <a:lstStyle/>
                    <a:p>
                      <a:r>
                        <a:rPr lang="en-IN" sz="2000" b="1"/>
                        <a:t>Monitoring</a:t>
                      </a:r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Prometheus &amp; Grafana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Print logs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Metrics dashboard</a:t>
                      </a:r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8505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37652"/>
            <a:ext cx="10360152" cy="639097"/>
          </a:xfrm>
        </p:spPr>
        <p:txBody>
          <a:bodyPr anchor="b"/>
          <a:lstStyle/>
          <a:p>
            <a:r>
              <a:rPr lang="en-US" dirty="0"/>
              <a:t>🧪 </a:t>
            </a:r>
            <a:r>
              <a:rPr lang="en-US" sz="2400" b="1" dirty="0"/>
              <a:t>Before vs. After: Algorithm Example</a:t>
            </a:r>
            <a:endParaRPr lang="en-US" b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49269" y="945024"/>
            <a:ext cx="8109772" cy="5190305"/>
          </a:xfrm>
        </p:spPr>
        <p:txBody>
          <a:bodyPr/>
          <a:lstStyle/>
          <a:p>
            <a:pPr algn="l"/>
            <a:endParaRPr lang="en-IN" dirty="0"/>
          </a:p>
          <a:p>
            <a:pPr algn="l"/>
            <a:r>
              <a:rPr lang="en-IN" dirty="0"/>
              <a:t>❌ </a:t>
            </a:r>
            <a:r>
              <a:rPr lang="en-IN" b="1" dirty="0"/>
              <a:t>Before Refactoring:</a:t>
            </a:r>
            <a:br>
              <a:rPr lang="en-IN" dirty="0"/>
            </a:br>
            <a:r>
              <a:rPr lang="en-US" sz="1600" b="1" u="sng" dirty="0">
                <a:highlight>
                  <a:srgbClr val="FFF4ED"/>
                </a:highlight>
              </a:rPr>
              <a:t># Manual feature scaling and loop-based processing</a:t>
            </a:r>
          </a:p>
          <a:p>
            <a:pPr algn="l"/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scaled_data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= []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for row in data: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  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scaled_row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= [(x -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min_val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[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i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]) / 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max_val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[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i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] -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min_val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[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i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]) for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i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, x in enumerate(row)]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  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scaled_data.append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scaled_row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)</a:t>
            </a:r>
          </a:p>
          <a:p>
            <a:pPr algn="l"/>
            <a:endParaRPr lang="en-US" sz="1400" b="1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en-IN" dirty="0"/>
              <a:t>✅ </a:t>
            </a:r>
            <a:r>
              <a:rPr lang="en-IN" b="1" dirty="0"/>
              <a:t>After Refactoring: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# Vectorized using NumPy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import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numpy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as np</a:t>
            </a:r>
          </a:p>
          <a:p>
            <a:pPr algn="l"/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data_np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=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np.array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(data)</a:t>
            </a:r>
          </a:p>
          <a:p>
            <a:pPr algn="l"/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scaled_data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= 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data_np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 -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np.min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data_np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, axis=0)) / 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np.max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data_np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, axis=0) -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np.min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data_np</a:t>
            </a:r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, axis=0))</a:t>
            </a:r>
          </a:p>
          <a:p>
            <a:pPr algn="l"/>
            <a:endParaRPr lang="en-US" sz="1400" b="1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endParaRPr lang="en-US" sz="1400" b="1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📌 Impact: Refactor reduced feature scaling time from ~2.3s to 120ms on 1M records.</a:t>
            </a:r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FD2C-08BB-4399-B1A5-86AA42EC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D1F454D-4BA6-C13E-13E0-BD788239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975" y="53964"/>
            <a:ext cx="7534656" cy="914400"/>
          </a:xfrm>
        </p:spPr>
        <p:txBody>
          <a:bodyPr/>
          <a:lstStyle/>
          <a:p>
            <a:r>
              <a:rPr lang="en-IN" dirty="0"/>
              <a:t>📊 </a:t>
            </a:r>
            <a:r>
              <a:rPr lang="en-IN" b="1" dirty="0"/>
              <a:t>Performance Benchmarks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609E77-6269-9B6C-555D-2BFE3582803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813021563"/>
              </p:ext>
            </p:extLst>
          </p:nvPr>
        </p:nvGraphicFramePr>
        <p:xfrm>
          <a:off x="1238865" y="1131673"/>
          <a:ext cx="9261986" cy="4187578"/>
        </p:xfrm>
        <a:graphic>
          <a:graphicData uri="http://schemas.openxmlformats.org/drawingml/2006/table">
            <a:tbl>
              <a:tblPr/>
              <a:tblGrid>
                <a:gridCol w="2042651">
                  <a:extLst>
                    <a:ext uri="{9D8B030D-6E8A-4147-A177-3AD203B41FA5}">
                      <a16:colId xmlns:a16="http://schemas.microsoft.com/office/drawing/2014/main" val="3152426371"/>
                    </a:ext>
                  </a:extLst>
                </a:gridCol>
                <a:gridCol w="2406445">
                  <a:extLst>
                    <a:ext uri="{9D8B030D-6E8A-4147-A177-3AD203B41FA5}">
                      <a16:colId xmlns:a16="http://schemas.microsoft.com/office/drawing/2014/main" val="1590245490"/>
                    </a:ext>
                  </a:extLst>
                </a:gridCol>
                <a:gridCol w="2406445">
                  <a:extLst>
                    <a:ext uri="{9D8B030D-6E8A-4147-A177-3AD203B41FA5}">
                      <a16:colId xmlns:a16="http://schemas.microsoft.com/office/drawing/2014/main" val="1979797701"/>
                    </a:ext>
                  </a:extLst>
                </a:gridCol>
                <a:gridCol w="2406445">
                  <a:extLst>
                    <a:ext uri="{9D8B030D-6E8A-4147-A177-3AD203B41FA5}">
                      <a16:colId xmlns:a16="http://schemas.microsoft.com/office/drawing/2014/main" val="3350491713"/>
                    </a:ext>
                  </a:extLst>
                </a:gridCol>
              </a:tblGrid>
              <a:tr h="461826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Pre-Refactor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Post-Refactor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004447"/>
                  </a:ext>
                </a:extLst>
              </a:tr>
              <a:tr h="808195">
                <a:tc>
                  <a:txBody>
                    <a:bodyPr/>
                    <a:lstStyle/>
                    <a:p>
                      <a:r>
                        <a:rPr lang="en-IN"/>
                        <a:t>Model Training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4h 12m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1h 35m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🔻 62.4%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826199"/>
                  </a:ext>
                </a:extLst>
              </a:tr>
              <a:tr h="808195">
                <a:tc>
                  <a:txBody>
                    <a:bodyPr/>
                    <a:lstStyle/>
                    <a:p>
                      <a:r>
                        <a:rPr lang="en-IN"/>
                        <a:t>Inference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850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220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🔻 74.1%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894514"/>
                  </a:ext>
                </a:extLst>
              </a:tr>
              <a:tr h="461826">
                <a:tc>
                  <a:txBody>
                    <a:bodyPr/>
                    <a:lstStyle/>
                    <a:p>
                      <a:r>
                        <a:rPr lang="en-IN"/>
                        <a:t>RAM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820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470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🔻 42.7%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08441"/>
                  </a:ext>
                </a:extLst>
              </a:tr>
              <a:tr h="461826">
                <a:tc>
                  <a:txBody>
                    <a:bodyPr/>
                    <a:lstStyle/>
                    <a:p>
                      <a:r>
                        <a:rPr lang="en-IN"/>
                        <a:t>Codebase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13,400 LOC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8,900 LOC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🔻 33.5%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01712"/>
                  </a:ext>
                </a:extLst>
              </a:tr>
              <a:tr h="461826">
                <a:tc>
                  <a:txBody>
                    <a:bodyPr/>
                    <a:lstStyle/>
                    <a:p>
                      <a:r>
                        <a:rPr lang="en-IN"/>
                        <a:t>API 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~19 RPS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~55 RPS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🔺 2.9×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831005"/>
                  </a:ext>
                </a:extLst>
              </a:tr>
              <a:tr h="723884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 marL="87119" marR="87119" marT="43560" marB="43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8505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1A59B-4B5A-E34F-53EA-36801CD47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41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</a:t>
            </a:r>
            <a:r>
              <a:rPr lang="en-IN" b="1" dirty="0"/>
              <a:t>Technical Summary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1" y="2039112"/>
            <a:ext cx="10020300" cy="387705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Vectorized transformations and PCA minimized redundant computation.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Converted model to ONNX for fast, hardware-optimized inference.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Asynchronous </a:t>
            </a:r>
            <a:r>
              <a:rPr lang="en-IN" sz="2400" b="1" dirty="0" err="1"/>
              <a:t>FastAPI</a:t>
            </a:r>
            <a:r>
              <a:rPr lang="en-IN" sz="2400" b="1" dirty="0"/>
              <a:t> architecture significantly improved API throughput.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Logging was optimized with async handlers and real-time dashboards.</a:t>
            </a:r>
          </a:p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4F0DB-C334-1505-32CC-72988980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F28199B-EE64-B9C0-6FBD-9FFF9F36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Conclusion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2486846-D49D-7714-9BD0-25F85FAB2F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1" y="2039112"/>
            <a:ext cx="10020300" cy="3877055"/>
          </a:xfrm>
        </p:spPr>
        <p:txBody>
          <a:bodyPr>
            <a:normAutofit/>
          </a:bodyPr>
          <a:lstStyle/>
          <a:p>
            <a:r>
              <a:rPr lang="en-US" sz="2800" b="1" dirty="0"/>
              <a:t>The refactoring of the Air Quality Prediction system resulted in significant performance gains, streamlined code, and improved scalability. Vectorized computation and ONNX inference drastically reduced latency, while </a:t>
            </a:r>
            <a:r>
              <a:rPr lang="en-US" sz="2800" b="1" dirty="0" err="1"/>
              <a:t>FastAPI</a:t>
            </a:r>
            <a:r>
              <a:rPr lang="en-US" sz="2800" b="1" dirty="0"/>
              <a:t> enabled better concurrency. These enhancements lay a strong foundation for future expansion, including real-time alerts, mobile app integration, and more complex forecasting models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057AC0-CB87-7CFB-127E-9F79E97C6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6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Deepak Kumar Sahu</a:t>
            </a:r>
          </a:p>
          <a:p>
            <a:r>
              <a:rPr lang="en-US" dirty="0"/>
              <a:t>+91-9142805800</a:t>
            </a:r>
          </a:p>
          <a:p>
            <a:pPr lvl="1"/>
            <a:r>
              <a:rPr lang="en-US" dirty="0"/>
              <a:t>Deepak.sahu@iiitg.ac.in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{28328107-94E7-4306-B9AA-0AA00A9AA77A}tf11964407_win32</Template>
  <TotalTime>23</TotalTime>
  <Words>488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CODE REFACTORING  AND PERFORMANCE  OPTIMIZATION Project: Air Quality Prediction System Date: May 1, 2025 Prepared by: Deepak Sahu</vt:lpstr>
      <vt:lpstr>agenda</vt:lpstr>
      <vt:lpstr>🎯 Objective: To enhance the efficiency, scalability, and maintainability of the Air Quality Prediction System by refactoring core components and applying targeted performance optimizations.</vt:lpstr>
      <vt:lpstr>🛠️ Key Changes &amp; Refactoring</vt:lpstr>
      <vt:lpstr>🧪 Before vs. After: Algorithm Example</vt:lpstr>
      <vt:lpstr>📊 Performance Benchmarks</vt:lpstr>
      <vt:lpstr>🧠 Technical Summary</vt:lpstr>
      <vt:lpstr>✅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sahu</dc:creator>
  <cp:lastModifiedBy>Deepak sahu</cp:lastModifiedBy>
  <cp:revision>1</cp:revision>
  <dcterms:created xsi:type="dcterms:W3CDTF">2025-05-01T07:57:15Z</dcterms:created>
  <dcterms:modified xsi:type="dcterms:W3CDTF">2025-05-01T08:21:04Z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